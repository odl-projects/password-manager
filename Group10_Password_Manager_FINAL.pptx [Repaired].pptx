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9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392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A8A8C0"/>
                </a:solidFill>
              </a:rPr>
              <a:t>PROJECT PROPOSAL  ·  ODL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6C63FF">
              <a:alpha val="18000"/>
            </a:srgbClr>
          </a:solidFill>
          <a:ln w="12700">
            <a:solidFill>
              <a:srgbClr val="6C63FF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94360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Password Manager with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Zero-Knowledge Encryption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6C63FF"/>
                </a:solidFill>
              </a:rPr>
              <a:t>AES-256  ·  PBKDF2  ·  Electron  ·  React  ·  Cryptography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5029200" cy="27432"/>
          </a:xfrm>
          <a:prstGeom prst="rect">
            <a:avLst/>
          </a:prstGeom>
          <a:solidFill>
            <a:srgbClr val="A8A8C0">
              <a:alpha val="50000"/>
            </a:srgbClr>
          </a:solidFill>
          <a:ln w="12700">
            <a:solidFill>
              <a:srgbClr val="A8A8C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118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NANKOLOLWE RITAH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2410802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KABASO KELVIN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2410780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CHANDA CHANDA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2410902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— background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Password Manager with Zero-Knowledge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02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594360"/>
            <a:ext cx="8412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594360"/>
            <a:ext cx="8412480" cy="731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315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1170432"/>
            <a:ext cx="8046720" cy="22860"/>
          </a:xfrm>
          <a:prstGeom prst="rect">
            <a:avLst/>
          </a:prstGeom>
          <a:solidFill>
            <a:srgbClr val="EDEDF8"/>
          </a:solidFill>
          <a:ln w="12700">
            <a:solidFill>
              <a:srgbClr val="EDE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dozens of online accounts per user, weak and reused passwords are common. Most password managers store encrypted data server-side, meaning the provider holds decryption keys — creating a single point of compromise.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2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Password Manager with Zero-Knowledge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04 / 14</a:t>
            </a:r>
            <a:endParaRPr lang="en-US" sz="13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FF6C98-BAD2-EC07-84CF-A02FD8BC3FF6}"/>
              </a:ext>
            </a:extLst>
          </p:cNvPr>
          <p:cNvSpPr txBox="1"/>
          <p:nvPr/>
        </p:nvSpPr>
        <p:spPr>
          <a:xfrm>
            <a:off x="398416" y="906444"/>
            <a:ext cx="764830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chemeClr val="bg1"/>
                </a:solidFill>
              </a:rPr>
              <a:t>Existing password management solutions either store plaintext credentials in poorly secured databases, rely on server-side encryption that is vulnerable to insider threats, or lack usability features that encourage adoption, leaving users exposed to credential theft and account compromise.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Password Manager with Zero-Knowledge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05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58368"/>
            <a:ext cx="914400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EDE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8368"/>
            <a:ext cx="566928" cy="126187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58368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63FF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85953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a PBKDF2-based key derivation module generating session encryption keys from a master password to prevent brute-force attacks.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2048256"/>
            <a:ext cx="9144000" cy="1261872"/>
          </a:xfrm>
          <a:prstGeom prst="rect">
            <a:avLst/>
          </a:prstGeom>
          <a:solidFill>
            <a:srgbClr val="EDEDF8"/>
          </a:solidFill>
          <a:ln w="10160">
            <a:solidFill>
              <a:srgbClr val="EDE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048256"/>
            <a:ext cx="566928" cy="126187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2048256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44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249424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 client-side AES-256 encryption engine ensuring all vault entries are encrypted before leaving the user's device.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0" y="3438144"/>
            <a:ext cx="914400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EDE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438144"/>
            <a:ext cx="566928" cy="126187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3438144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63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639312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cross-platform desktop password vault using Electron and React with zero server-side plaintext exposure, validated through security testing.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2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Password Manager with Zero-Knowledge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06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58368"/>
            <a:ext cx="8412480" cy="1207008"/>
          </a:xfrm>
          <a:prstGeom prst="rect">
            <a:avLst/>
          </a:prstGeom>
          <a:solidFill>
            <a:srgbClr val="3A3A55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658368"/>
            <a:ext cx="749808" cy="12070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658368"/>
            <a:ext cx="7498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2D44"/>
                </a:solidFill>
              </a:rPr>
              <a:t>Q1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82296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PBKDF2 key derivation module be developed to generate session-specific encryption keys that resist brute-force attacks?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5760" y="2048256"/>
            <a:ext cx="8412480" cy="1207008"/>
          </a:xfrm>
          <a:prstGeom prst="rect">
            <a:avLst/>
          </a:prstGeom>
          <a:solidFill>
            <a:srgbClr val="3A3A55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048256"/>
            <a:ext cx="749808" cy="12070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48256"/>
            <a:ext cx="7498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2D44"/>
                </a:solidFill>
              </a:rPr>
              <a:t>Q2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22128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client-side AES-256 encryption engine be implemented to ensure vault entries are encrypted on the device before any transmission?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3438144"/>
            <a:ext cx="8412480" cy="1207008"/>
          </a:xfrm>
          <a:prstGeom prst="rect">
            <a:avLst/>
          </a:prstGeom>
          <a:solidFill>
            <a:srgbClr val="3A3A55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438144"/>
            <a:ext cx="749808" cy="12070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38144"/>
            <a:ext cx="7498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2D44"/>
                </a:solidFill>
              </a:rPr>
              <a:t>Q3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60273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cross-platform desktop password vault built with Electron and React achieve zero server-side plaintext exposure, as validated through security testing?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of the Study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Password Manager with Zero-Knowledge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07 / 14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covers client-side AES-256 encryption, PBKDF2 key derivation, and an Electron/React desktop vault application.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353312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353312"/>
            <a:ext cx="54864" cy="89611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426464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AES-256 vault entry encryption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1353312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353312"/>
            <a:ext cx="54864" cy="89611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426464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master password key derivation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5760" y="2377440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77440"/>
            <a:ext cx="54864" cy="89611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450592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local vault storage (SQLite)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377440"/>
            <a:ext cx="54864" cy="89611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450592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+ React cross-platform desktop app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65760" y="3401568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401568"/>
            <a:ext cx="54864" cy="89611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474720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generator with strength meter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54880" y="3401568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401568"/>
            <a:ext cx="54864" cy="89611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474720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Master-password-only authentication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2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 of the Study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Password Manager with Zero-Knowledge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08 / 14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645152"/>
            <a:ext cx="269748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27532"/>
            <a:ext cx="6278433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>
              <a:buNone/>
            </a:pPr>
            <a:endParaRPr lang="en-US" sz="16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>
              <a:buNone/>
            </a:pPr>
            <a:endParaRPr lang="en-US" sz="16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endParaRPr lang="en-US" sz="16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Server Trust</a:t>
            </a:r>
          </a:p>
          <a:p>
            <a:endParaRPr lang="en-US" sz="16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Key Security</a:t>
            </a:r>
          </a:p>
          <a:p>
            <a:endParaRPr lang="en-US" sz="16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Data Sovereignty</a:t>
            </a:r>
          </a:p>
          <a:p>
            <a:endParaRPr lang="en-US" sz="16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Security Gap</a:t>
            </a:r>
          </a:p>
          <a:p>
            <a:endParaRPr lang="en-US" sz="16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Cryptography</a:t>
            </a:r>
          </a:p>
          <a:p>
            <a:endParaRPr lang="en-US" sz="16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 Contribution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54680" y="4645152"/>
            <a:ext cx="269748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4645152"/>
            <a:ext cx="269748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Conceptual Framework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Password Manager with Zero-Knowledge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10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566928"/>
            <a:ext cx="8595360" cy="431596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640080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2D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859536"/>
            <a:ext cx="0" cy="320040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987552"/>
            <a:ext cx="365760" cy="0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1179576"/>
            <a:ext cx="0" cy="256032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179576"/>
            <a:ext cx="182880" cy="256032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74520" y="1581912"/>
            <a:ext cx="0" cy="18288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15636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1435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97280" y="160020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2D2D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600200"/>
            <a:ext cx="1554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88336" y="1920240"/>
            <a:ext cx="932688" cy="0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18105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47288" y="18105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0" y="1600200"/>
            <a:ext cx="18288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31750">
            <a:solidFill>
              <a:srgbClr val="2D2D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22976" y="1920240"/>
            <a:ext cx="841248" cy="0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18105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0488" y="18105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1600200"/>
            <a:ext cx="1645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2D2D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600200"/>
            <a:ext cx="1645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Store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0" y="2276856"/>
            <a:ext cx="0" cy="429768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2258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▲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25420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63340" y="2743200"/>
            <a:ext cx="14173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2D2D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63340" y="2743200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0" y="3419856"/>
            <a:ext cx="0" cy="338328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3401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▲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80560" y="35935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71900" y="3794760"/>
            <a:ext cx="16002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2D2D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71900" y="3794760"/>
            <a:ext cx="1600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Key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Password Manager with Zero-Knowledge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11 / 14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594360"/>
          <a:ext cx="8778240" cy="31699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Author &amp; Year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Contribution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44"/>
                          </a:solidFill>
                        </a:rPr>
                        <a:t>Bonneau et al. (2012)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44"/>
                          </a:solidFill>
                        </a:rPr>
                        <a:t>The Quest to Replace Passwords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44"/>
                          </a:solidFill>
                        </a:rPr>
                        <a:t>Evaluated password vault alternatives including OTPs and biometrics for consumer authentication.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44"/>
                          </a:solidFill>
                        </a:rPr>
                        <a:t>Theoretical only — no cryptographic implementation or client-side zero-knowledge design.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44"/>
                          </a:solidFill>
                        </a:rPr>
                        <a:t>Li et al. (2020)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44"/>
                          </a:solidFill>
                        </a:rPr>
                        <a:t>Password Managers: Attacks and Defences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44"/>
                          </a:solidFill>
                        </a:rPr>
                        <a:t>Analysed vulnerabilities in popular managers including memory scraping and clipboard attacks.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44"/>
                          </a:solidFill>
                        </a:rPr>
                        <a:t>Identified attack vectors without proposing a hardened zero-knowledge architecture.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44"/>
                          </a:solidFill>
                        </a:rPr>
                        <a:t>Mbewe &amp; Phiri (2023)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44"/>
                          </a:solidFill>
                        </a:rPr>
                        <a:t>Cybersecurity Awareness in Zambian SMEs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44"/>
                          </a:solidFill>
                        </a:rPr>
                        <a:t>Revealed that most Zambian SMEs store passwords in plain-text spreadsheets or browser storage.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44"/>
                          </a:solidFill>
                        </a:rPr>
                        <a:t>No secure tooling proposed — gap remains for a locally built zero-knowledge vault.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2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Methodology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Password Manager with Zero-Knowledge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12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621792"/>
            <a:ext cx="1965960" cy="4114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6217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44"/>
                </a:solidFill>
              </a:rPr>
              <a:t>Data Collection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1033272"/>
            <a:ext cx="1965960" cy="3749040"/>
          </a:xfrm>
          <a:prstGeom prst="rect">
            <a:avLst/>
          </a:prstGeom>
          <a:solidFill>
            <a:srgbClr val="3A3A55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115568"/>
            <a:ext cx="171907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on password habits in Zambia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on encryption tool awareness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of existing open-source managers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50592" y="621792"/>
            <a:ext cx="1965960" cy="411480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6217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Design Tool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50592" y="1033272"/>
            <a:ext cx="1965960" cy="3749040"/>
          </a:xfrm>
          <a:prstGeom prst="rect">
            <a:avLst/>
          </a:prstGeom>
          <a:solidFill>
            <a:srgbClr val="3A3A55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115568"/>
            <a:ext cx="171907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(UML)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vault, key derivation, and authentication actors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access control boundaries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26864" y="621792"/>
            <a:ext cx="1965960" cy="4114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6217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44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26864" y="1033272"/>
            <a:ext cx="1965960" cy="3749040"/>
          </a:xfrm>
          <a:prstGeom prst="rect">
            <a:avLst/>
          </a:prstGeom>
          <a:solidFill>
            <a:srgbClr val="3A3A55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1115568"/>
            <a:ext cx="171907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+ React.js (desktop app)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+ PBKDF2 (Web Crypto API)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(encrypted local vault)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(auth module, no plaintext)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03136" y="621792"/>
            <a:ext cx="1965960" cy="411480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6217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Dev Model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03136" y="1033272"/>
            <a:ext cx="1965960" cy="3749040"/>
          </a:xfrm>
          <a:prstGeom prst="rect">
            <a:avLst/>
          </a:prstGeom>
          <a:solidFill>
            <a:srgbClr val="3A3A55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2864" y="1115568"/>
            <a:ext cx="171907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(security-first sprints)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Secure Coding Practices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modelling (STRIDE) each sprint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2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Timeline  ·  April – November 2026 (Weekly)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Password Manager with Zero-Knowledge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13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95728" y="566928"/>
            <a:ext cx="792099" cy="237744"/>
          </a:xfrm>
          <a:prstGeom prst="rect">
            <a:avLst/>
          </a:prstGeom>
          <a:solidFill>
            <a:srgbClr val="2D2D44"/>
          </a:solidFill>
          <a:ln w="381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566928"/>
            <a:ext cx="792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87827" y="566928"/>
            <a:ext cx="792099" cy="237744"/>
          </a:xfrm>
          <a:prstGeom prst="rect">
            <a:avLst/>
          </a:prstGeom>
          <a:solidFill>
            <a:srgbClr val="3A3A55"/>
          </a:solidFill>
          <a:ln w="3810">
            <a:solidFill>
              <a:srgbClr val="2D2D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7827" y="566928"/>
            <a:ext cx="792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79926" y="566928"/>
            <a:ext cx="792099" cy="237744"/>
          </a:xfrm>
          <a:prstGeom prst="rect">
            <a:avLst/>
          </a:prstGeom>
          <a:solidFill>
            <a:srgbClr val="2D2D44"/>
          </a:solidFill>
          <a:ln w="3810">
            <a:solidFill>
              <a:srgbClr val="2D2D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9926" y="566928"/>
            <a:ext cx="792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JUN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72025" y="566928"/>
            <a:ext cx="792099" cy="237744"/>
          </a:xfrm>
          <a:prstGeom prst="rect">
            <a:avLst/>
          </a:prstGeom>
          <a:solidFill>
            <a:srgbClr val="3A3A55"/>
          </a:solidFill>
          <a:ln w="3810">
            <a:solidFill>
              <a:srgbClr val="2D2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2025" y="566928"/>
            <a:ext cx="792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JUL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64124" y="566928"/>
            <a:ext cx="792099" cy="237744"/>
          </a:xfrm>
          <a:prstGeom prst="rect">
            <a:avLst/>
          </a:prstGeom>
          <a:solidFill>
            <a:srgbClr val="2D2D44"/>
          </a:solidFill>
          <a:ln w="3810">
            <a:solidFill>
              <a:srgbClr val="2D2D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64124" y="566928"/>
            <a:ext cx="792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AUG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356223" y="566928"/>
            <a:ext cx="792099" cy="237744"/>
          </a:xfrm>
          <a:prstGeom prst="rect">
            <a:avLst/>
          </a:prstGeom>
          <a:solidFill>
            <a:srgbClr val="3A3A55"/>
          </a:solidFill>
          <a:ln w="3810">
            <a:solidFill>
              <a:srgbClr val="2D2D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6223" y="566928"/>
            <a:ext cx="792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SEP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48322" y="566928"/>
            <a:ext cx="792099" cy="237744"/>
          </a:xfrm>
          <a:prstGeom prst="rect">
            <a:avLst/>
          </a:prstGeom>
          <a:solidFill>
            <a:srgbClr val="2D2D44"/>
          </a:solidFill>
          <a:ln w="381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48322" y="566928"/>
            <a:ext cx="792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OCT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940421" y="566928"/>
            <a:ext cx="792099" cy="237744"/>
          </a:xfrm>
          <a:prstGeom prst="rect">
            <a:avLst/>
          </a:prstGeom>
          <a:solidFill>
            <a:srgbClr val="3A3A55"/>
          </a:solidFill>
          <a:ln w="3810">
            <a:solidFill>
              <a:srgbClr val="2D2D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0421" y="566928"/>
            <a:ext cx="792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NOV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95728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95728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W1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2593753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93753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W2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2791778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91778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W3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989802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9802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W4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187827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7827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W1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385852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5852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W2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583877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83877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W3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3781901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81901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W4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979926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79926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W1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4177951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77951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W2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4375976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5976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W3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4574000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4000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W4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4772025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2025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W1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4970050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70050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W2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168075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8075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W3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5366099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66099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W4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5564124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64124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W1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5762149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2149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W2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5960174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60174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W3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6158198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58198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W4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6356223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6223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W1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6554248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54248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W2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6752273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52273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W3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6950297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50297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W4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7148322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48322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W1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7346347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46347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W2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7544371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44371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W3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7742396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742396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W4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7940421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940421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W1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8138446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138446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W2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8336471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336471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W3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8534495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2D2D4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534495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A8C0"/>
                </a:solidFill>
              </a:rPr>
              <a:t>W4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2395728" y="1024128"/>
            <a:ext cx="6336792" cy="18288"/>
          </a:xfrm>
          <a:prstGeom prst="rect">
            <a:avLst/>
          </a:prstGeom>
          <a:solidFill>
            <a:srgbClr val="6C63FF">
              <a:alpha val="40000"/>
            </a:srgbClr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74320" y="1042416"/>
            <a:ext cx="8595360" cy="420624"/>
          </a:xfrm>
          <a:prstGeom prst="rect">
            <a:avLst/>
          </a:prstGeom>
          <a:solidFill>
            <a:srgbClr val="3A3A55"/>
          </a:solidFill>
          <a:ln w="2540">
            <a:solidFill>
              <a:srgbClr val="2A2A2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7472" y="104241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Writing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1993392" y="1161288"/>
            <a:ext cx="365760" cy="182880"/>
          </a:xfrm>
          <a:prstGeom prst="rect">
            <a:avLst/>
          </a:prstGeom>
          <a:solidFill>
            <a:srgbClr val="A8A8C0">
              <a:alpha val="32000"/>
            </a:srgbClr>
          </a:solidFill>
          <a:ln w="3810">
            <a:solidFill>
              <a:srgbClr val="A8A8C0">
                <a:alpha val="50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993392" y="11612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A8A8C0"/>
                </a:solidFill>
              </a:rPr>
              <a:t>PLAN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2414017" y="1179576"/>
            <a:ext cx="575786" cy="64008"/>
          </a:xfrm>
          <a:prstGeom prst="rect">
            <a:avLst/>
          </a:prstGeom>
          <a:solidFill>
            <a:srgbClr val="A8A8C0">
              <a:alpha val="22000"/>
            </a:srgbClr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414016" y="1179576"/>
            <a:ext cx="459813" cy="146304"/>
          </a:xfrm>
          <a:prstGeom prst="rect">
            <a:avLst/>
          </a:prstGeom>
          <a:solidFill>
            <a:srgbClr val="A8A8C0"/>
          </a:solidFill>
          <a:ln w="12700">
            <a:solidFill>
              <a:srgbClr val="A8A8C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2700000">
            <a:off x="2843469" y="1170433"/>
            <a:ext cx="146304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A8A8C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74320" y="1463040"/>
            <a:ext cx="8595360" cy="420624"/>
          </a:xfrm>
          <a:prstGeom prst="rect">
            <a:avLst/>
          </a:prstGeom>
          <a:solidFill>
            <a:srgbClr val="232323"/>
          </a:solidFill>
          <a:ln w="2540">
            <a:solidFill>
              <a:srgbClr val="2A2A2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47472" y="146304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1993392" y="1581912"/>
            <a:ext cx="365760" cy="182880"/>
          </a:xfrm>
          <a:prstGeom prst="rect">
            <a:avLst/>
          </a:prstGeom>
          <a:solidFill>
            <a:srgbClr val="A8A8C0">
              <a:alpha val="32000"/>
            </a:srgbClr>
          </a:solidFill>
          <a:ln w="3810">
            <a:solidFill>
              <a:srgbClr val="A8A8C0">
                <a:alpha val="5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993392" y="15819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A8A8C0"/>
                </a:solidFill>
              </a:rPr>
              <a:t>LIT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2414016" y="1600200"/>
            <a:ext cx="1547622" cy="146304"/>
          </a:xfrm>
          <a:prstGeom prst="rect">
            <a:avLst/>
          </a:prstGeom>
          <a:solidFill>
            <a:srgbClr val="A8A8C0">
              <a:alpha val="22000"/>
            </a:srgbClr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414016" y="1600200"/>
            <a:ext cx="1547622" cy="146304"/>
          </a:xfrm>
          <a:prstGeom prst="rect">
            <a:avLst/>
          </a:prstGeom>
          <a:solidFill>
            <a:srgbClr val="A8A8C0"/>
          </a:solidFill>
          <a:ln w="12700">
            <a:solidFill>
              <a:srgbClr val="A8A8C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2700000">
            <a:off x="3897630" y="1600200"/>
            <a:ext cx="146304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A8A8C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1883664"/>
            <a:ext cx="8595360" cy="420624"/>
          </a:xfrm>
          <a:prstGeom prst="rect">
            <a:avLst/>
          </a:prstGeom>
          <a:solidFill>
            <a:srgbClr val="3A3A55"/>
          </a:solidFill>
          <a:ln w="2540">
            <a:solidFill>
              <a:srgbClr val="2A2A2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47472" y="188366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1993392" y="2002536"/>
            <a:ext cx="365760" cy="182880"/>
          </a:xfrm>
          <a:prstGeom prst="rect">
            <a:avLst/>
          </a:prstGeom>
          <a:solidFill>
            <a:srgbClr val="6C63FF">
              <a:alpha val="32000"/>
            </a:srgbClr>
          </a:solidFill>
          <a:ln w="381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993392" y="2002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6C63FF"/>
                </a:solidFill>
              </a:rPr>
              <a:t>REQ</a:t>
            </a:r>
            <a:endParaRPr lang="en-US" sz="600" dirty="0"/>
          </a:p>
        </p:txBody>
      </p:sp>
      <p:sp>
        <p:nvSpPr>
          <p:cNvPr id="107" name="Shape 105"/>
          <p:cNvSpPr/>
          <p:nvPr/>
        </p:nvSpPr>
        <p:spPr>
          <a:xfrm>
            <a:off x="3206115" y="2020824"/>
            <a:ext cx="1151573" cy="146304"/>
          </a:xfrm>
          <a:prstGeom prst="rect">
            <a:avLst/>
          </a:prstGeom>
          <a:solidFill>
            <a:srgbClr val="6C63FF">
              <a:alpha val="22000"/>
            </a:srgbClr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206115" y="2020824"/>
            <a:ext cx="1151573" cy="14630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2700000">
            <a:off x="4293680" y="2020824"/>
            <a:ext cx="146304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6C63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74320" y="2304288"/>
            <a:ext cx="8595360" cy="420624"/>
          </a:xfrm>
          <a:prstGeom prst="rect">
            <a:avLst/>
          </a:prstGeom>
          <a:solidFill>
            <a:srgbClr val="232323"/>
          </a:solidFill>
          <a:ln w="2540">
            <a:solidFill>
              <a:srgbClr val="2A2A2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47472" y="230428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1993392" y="2423160"/>
            <a:ext cx="365760" cy="182880"/>
          </a:xfrm>
          <a:prstGeom prst="rect">
            <a:avLst/>
          </a:prstGeom>
          <a:solidFill>
            <a:srgbClr val="6C63FF">
              <a:alpha val="32000"/>
            </a:srgbClr>
          </a:solidFill>
          <a:ln w="381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993392" y="2423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6C63FF"/>
                </a:solidFill>
              </a:rPr>
              <a:t>DSGN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998214" y="2441448"/>
            <a:ext cx="1151573" cy="146304"/>
          </a:xfrm>
          <a:prstGeom prst="rect">
            <a:avLst/>
          </a:prstGeom>
          <a:solidFill>
            <a:srgbClr val="6C63FF">
              <a:alpha val="22000"/>
            </a:srgbClr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98214" y="2441448"/>
            <a:ext cx="1151573" cy="14630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2700000">
            <a:off x="5085779" y="2441448"/>
            <a:ext cx="146304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6C63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4320" y="2724912"/>
            <a:ext cx="8595360" cy="420624"/>
          </a:xfrm>
          <a:prstGeom prst="rect">
            <a:avLst/>
          </a:prstGeom>
          <a:solidFill>
            <a:srgbClr val="3A3A55"/>
          </a:solidFill>
          <a:ln w="2540">
            <a:solidFill>
              <a:srgbClr val="2A2A2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47472" y="272491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Module Dev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1993392" y="2843784"/>
            <a:ext cx="365760" cy="182880"/>
          </a:xfrm>
          <a:prstGeom prst="rect">
            <a:avLst/>
          </a:prstGeom>
          <a:solidFill>
            <a:srgbClr val="6C63FF">
              <a:alpha val="32000"/>
            </a:srgbClr>
          </a:solidFill>
          <a:ln w="381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993392" y="2843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6C63FF"/>
                </a:solidFill>
              </a:rPr>
              <a:t>BUILD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4790313" y="2862072"/>
            <a:ext cx="1943672" cy="146304"/>
          </a:xfrm>
          <a:prstGeom prst="rect">
            <a:avLst/>
          </a:prstGeom>
          <a:solidFill>
            <a:srgbClr val="6C63FF">
              <a:alpha val="22000"/>
            </a:srgbClr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90313" y="2862072"/>
            <a:ext cx="1943672" cy="14630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2700000">
            <a:off x="6669977" y="2862072"/>
            <a:ext cx="146304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6C63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74320" y="3145536"/>
            <a:ext cx="8595360" cy="420624"/>
          </a:xfrm>
          <a:prstGeom prst="rect">
            <a:avLst/>
          </a:prstGeom>
          <a:solidFill>
            <a:srgbClr val="232323"/>
          </a:solidFill>
          <a:ln w="2540">
            <a:solidFill>
              <a:srgbClr val="2A2A2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47472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App Dev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1993392" y="3264408"/>
            <a:ext cx="365760" cy="182880"/>
          </a:xfrm>
          <a:prstGeom prst="rect">
            <a:avLst/>
          </a:prstGeom>
          <a:solidFill>
            <a:srgbClr val="6C63FF">
              <a:alpha val="32000"/>
            </a:srgbClr>
          </a:solidFill>
          <a:ln w="381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993392" y="32644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6C63FF"/>
                </a:solidFill>
              </a:rPr>
              <a:t>CODE</a:t>
            </a:r>
            <a:endParaRPr lang="en-US" sz="600" dirty="0"/>
          </a:p>
        </p:txBody>
      </p:sp>
      <p:sp>
        <p:nvSpPr>
          <p:cNvPr id="128" name="Shape 126"/>
          <p:cNvSpPr/>
          <p:nvPr/>
        </p:nvSpPr>
        <p:spPr>
          <a:xfrm>
            <a:off x="5582412" y="3282696"/>
            <a:ext cx="1943672" cy="146304"/>
          </a:xfrm>
          <a:prstGeom prst="rect">
            <a:avLst/>
          </a:prstGeom>
          <a:solidFill>
            <a:srgbClr val="6C63FF">
              <a:alpha val="22000"/>
            </a:srgbClr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582412" y="3282696"/>
            <a:ext cx="1943672" cy="14630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2700000">
            <a:off x="7462076" y="3282696"/>
            <a:ext cx="146304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6C63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74320" y="3566160"/>
            <a:ext cx="8595360" cy="420624"/>
          </a:xfrm>
          <a:prstGeom prst="rect">
            <a:avLst/>
          </a:prstGeom>
          <a:solidFill>
            <a:srgbClr val="3A3A55"/>
          </a:solidFill>
          <a:ln w="2540">
            <a:solidFill>
              <a:srgbClr val="2A2A2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47472" y="356616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1993392" y="3685032"/>
            <a:ext cx="365760" cy="182880"/>
          </a:xfrm>
          <a:prstGeom prst="rect">
            <a:avLst/>
          </a:prstGeom>
          <a:solidFill>
            <a:srgbClr val="A8A8C0">
              <a:alpha val="32000"/>
            </a:srgbClr>
          </a:solidFill>
          <a:ln w="3810">
            <a:solidFill>
              <a:srgbClr val="A8A8C0">
                <a:alpha val="50000"/>
              </a:srgbClr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993392" y="3685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A8A8C0"/>
                </a:solidFill>
              </a:rPr>
              <a:t>TEST</a:t>
            </a:r>
            <a:endParaRPr lang="en-US" sz="600" dirty="0"/>
          </a:p>
        </p:txBody>
      </p:sp>
      <p:sp>
        <p:nvSpPr>
          <p:cNvPr id="135" name="Shape 133"/>
          <p:cNvSpPr/>
          <p:nvPr/>
        </p:nvSpPr>
        <p:spPr>
          <a:xfrm>
            <a:off x="6968585" y="3703320"/>
            <a:ext cx="1151573" cy="146304"/>
          </a:xfrm>
          <a:prstGeom prst="rect">
            <a:avLst/>
          </a:prstGeom>
          <a:solidFill>
            <a:srgbClr val="A8A8C0">
              <a:alpha val="22000"/>
            </a:srgbClr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968585" y="3703320"/>
            <a:ext cx="1151573" cy="146304"/>
          </a:xfrm>
          <a:prstGeom prst="rect">
            <a:avLst/>
          </a:prstGeom>
          <a:solidFill>
            <a:srgbClr val="A8A8C0"/>
          </a:solidFill>
          <a:ln w="12700">
            <a:solidFill>
              <a:srgbClr val="A8A8C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2700000">
            <a:off x="8056150" y="3703320"/>
            <a:ext cx="146304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A8A8C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" y="3986784"/>
            <a:ext cx="8595360" cy="420624"/>
          </a:xfrm>
          <a:prstGeom prst="rect">
            <a:avLst/>
          </a:prstGeom>
          <a:solidFill>
            <a:srgbClr val="232323"/>
          </a:solidFill>
          <a:ln w="2540">
            <a:solidFill>
              <a:srgbClr val="2A2A2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47472" y="398678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1993392" y="4105656"/>
            <a:ext cx="365760" cy="182880"/>
          </a:xfrm>
          <a:prstGeom prst="rect">
            <a:avLst/>
          </a:prstGeom>
          <a:solidFill>
            <a:srgbClr val="6C63FF">
              <a:alpha val="32000"/>
            </a:srgbClr>
          </a:solidFill>
          <a:ln w="381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993392" y="41056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6C63FF"/>
                </a:solidFill>
              </a:rPr>
              <a:t>DONE</a:t>
            </a:r>
            <a:endParaRPr lang="en-US" sz="600" dirty="0"/>
          </a:p>
        </p:txBody>
      </p:sp>
      <p:sp>
        <p:nvSpPr>
          <p:cNvPr id="142" name="Shape 140"/>
          <p:cNvSpPr/>
          <p:nvPr/>
        </p:nvSpPr>
        <p:spPr>
          <a:xfrm>
            <a:off x="7760684" y="4123944"/>
            <a:ext cx="953548" cy="146304"/>
          </a:xfrm>
          <a:prstGeom prst="rect">
            <a:avLst/>
          </a:prstGeom>
          <a:solidFill>
            <a:srgbClr val="6C63FF">
              <a:alpha val="22000"/>
            </a:srgbClr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760684" y="4123944"/>
            <a:ext cx="953548" cy="14630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2700000">
            <a:off x="8650224" y="4123944"/>
            <a:ext cx="146304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6C63F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2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Budget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Password Manager with Zero-Knowledge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14 / 14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621792"/>
          <a:ext cx="6400800" cy="4011168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D2D44"/>
                          </a:solidFill>
                        </a:rPr>
                        <a:t>#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D2D44"/>
                          </a:solidFill>
                        </a:rPr>
                        <a:t>Item / Description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D2D44"/>
                          </a:solidFill>
                        </a:rPr>
                        <a:t>Qty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D2D44"/>
                          </a:solidFill>
                        </a:rPr>
                        <a:t>Amount (ZMK)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8A8C0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VPS Hosting (Electron app + auth server, 6 months)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8A8C0"/>
                          </a:solidFill>
                        </a:rPr>
                        <a:t>6 mo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6C63FF"/>
                          </a:solidFill>
                        </a:rPr>
                        <a:t>K 1,260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8A8C0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Domain + SSL Certificate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8A8C0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6C63FF"/>
                          </a:solidFill>
                        </a:rPr>
                        <a:t>K 780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8A8C0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Transportation &amp; User Testing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8A8C0"/>
                          </a:solidFill>
                        </a:rPr>
                        <a:t>Lump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6C63FF"/>
                          </a:solidFill>
                        </a:rPr>
                        <a:t>K 1,500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8A8C0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Research Materials (IEEE Xplore, books)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8A8C0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6C63FF"/>
                          </a:solidFill>
                        </a:rPr>
                        <a:t>K 1,200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8A8C0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Printing (proposals, reports)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8A8C0"/>
                          </a:solidFill>
                        </a:rPr>
                        <a:t>9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6C63FF"/>
                          </a:solidFill>
                        </a:rPr>
                        <a:t>K 540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8A8C0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Contingency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8A8C0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6C63FF"/>
                          </a:solidFill>
                        </a:rPr>
                        <a:t>K 720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D2D44"/>
                          </a:solidFill>
                        </a:rPr>
                        <a:t>TOTAL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2D2D44"/>
                          </a:solidFill>
                        </a:rPr>
                        <a:t>K 6,000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813</Words>
  <Application>Microsoft Office PowerPoint</Application>
  <PresentationFormat>On-screen Show (16:9)</PresentationFormat>
  <Paragraphs>232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Alexander Musonda</cp:lastModifiedBy>
  <cp:revision>8</cp:revision>
  <dcterms:created xsi:type="dcterms:W3CDTF">2026-04-23T08:14:25Z</dcterms:created>
  <dcterms:modified xsi:type="dcterms:W3CDTF">2026-04-25T05:46:13Z</dcterms:modified>
</cp:coreProperties>
</file>